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5" r:id="rId2"/>
    <p:sldId id="310" r:id="rId3"/>
    <p:sldId id="311" r:id="rId4"/>
    <p:sldId id="313" r:id="rId5"/>
    <p:sldId id="312" r:id="rId6"/>
    <p:sldId id="314" r:id="rId7"/>
    <p:sldId id="315" r:id="rId8"/>
    <p:sldId id="316" r:id="rId9"/>
    <p:sldId id="317" r:id="rId10"/>
    <p:sldId id="318" r:id="rId11"/>
    <p:sldId id="319" r:id="rId12"/>
  </p:sldIdLst>
  <p:sldSz cx="12188825"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bd49f2a16b70fc7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29" autoAdjust="0"/>
  </p:normalViewPr>
  <p:slideViewPr>
    <p:cSldViewPr showGuides="1">
      <p:cViewPr varScale="1">
        <p:scale>
          <a:sx n="96" d="100"/>
          <a:sy n="96" d="100"/>
        </p:scale>
        <p:origin x="86" y="120"/>
      </p:cViewPr>
      <p:guideLst>
        <p:guide pos="3839"/>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4-22T23:48:27.079" idx="1">
    <p:pos x="10" y="10"/>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88EAF-6ECA-4616-85EF-35AA19C641F3}" type="datetimeFigureOut">
              <a:rPr lang="en-US"/>
              <a:t>4/22/2026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F912AB-2776-42F2-A957-313FC7EFEDB9}" type="slidenum">
              <a:rPr/>
              <a:t>‹#›</a:t>
            </a:fld>
            <a:endParaRPr/>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a:t>4/22/2026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a:t>‹#›</a:t>
            </a:fld>
            <a:endParaRPr/>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1828800"/>
            <a:ext cx="8229600"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213" y="4800600"/>
            <a:ext cx="8229600"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4/22/2026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614" y="2514600"/>
            <a:ext cx="8692399"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213" y="5410200"/>
            <a:ext cx="8687333"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4/22/2026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4781" y="1905001"/>
            <a:ext cx="4419599"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29183" y="1905001"/>
            <a:ext cx="441960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4/22/2026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2241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1" y="1905000"/>
            <a:ext cx="441655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49861" y="2743201"/>
            <a:ext cx="441655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4/22/2026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4/22/2026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4/22/2026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Content Placeholder 2"/>
          <p:cNvSpPr>
            <a:spLocks noGrp="1"/>
          </p:cNvSpPr>
          <p:nvPr>
            <p:ph idx="1"/>
          </p:nvPr>
        </p:nvSpPr>
        <p:spPr>
          <a:xfrm>
            <a:off x="4951414" y="685800"/>
            <a:ext cx="6400800"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4/22/2026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604" y="1905000"/>
            <a:ext cx="3596607"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213" y="4648200"/>
            <a:ext cx="3581399"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1414" y="685800"/>
            <a:ext cx="6400799"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4/22/2026</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4/22/2026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2412" y="381001"/>
            <a:ext cx="1524001"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412" y="381001"/>
            <a:ext cx="7391399"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4/22/2026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144001" cy="13716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6553199"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6422" y="6400800"/>
            <a:ext cx="144938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4/22/2026</a:t>
            </a:fld>
            <a:endParaRPr lang="en-US"/>
          </a:p>
        </p:txBody>
      </p:sp>
      <p:sp>
        <p:nvSpPr>
          <p:cNvPr id="6" name="Slide Number Placeholder 5"/>
          <p:cNvSpPr>
            <a:spLocks noGrp="1"/>
          </p:cNvSpPr>
          <p:nvPr>
            <p:ph type="sldNum" sz="quarter" idx="4"/>
          </p:nvPr>
        </p:nvSpPr>
        <p:spPr>
          <a:xfrm>
            <a:off x="9828211" y="6400800"/>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140305999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hebluediamondgallery.com/typewriter/c/complaint.html"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fr.wikipedia.org/wiki/Kaggle" TargetMode="External"/><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065214" y="1700808"/>
            <a:ext cx="8229599" cy="3023592"/>
          </a:xfrm>
        </p:spPr>
        <p:txBody>
          <a:bodyPr>
            <a:normAutofit fontScale="90000"/>
          </a:bodyPr>
          <a:lstStyle/>
          <a:p>
            <a:r>
              <a:rPr lang="en-GB" b="1" dirty="0"/>
              <a:t>FIR/Complaint Classification and Priority Prediction System </a:t>
            </a:r>
            <a:endParaRPr lang="en-US" b="1" dirty="0"/>
          </a:p>
        </p:txBody>
      </p:sp>
      <p:sp>
        <p:nvSpPr>
          <p:cNvPr id="4" name="Subtitle 3"/>
          <p:cNvSpPr>
            <a:spLocks noGrp="1"/>
          </p:cNvSpPr>
          <p:nvPr>
            <p:ph type="subTitle" idx="1"/>
          </p:nvPr>
        </p:nvSpPr>
        <p:spPr/>
        <p:txBody>
          <a:bodyPr>
            <a:normAutofit/>
          </a:bodyPr>
          <a:lstStyle/>
          <a:p>
            <a:r>
              <a:rPr lang="it-IT" sz="2400" dirty="0"/>
              <a:t>PRESENTED BY : Maaz PATEL</a:t>
            </a:r>
          </a:p>
          <a:p>
            <a:r>
              <a:rPr lang="it-IT" sz="2400" dirty="0"/>
              <a:t>IMARTICUS LEARNING </a:t>
            </a:r>
          </a:p>
          <a:p>
            <a:r>
              <a:rPr lang="it-IT" sz="2400" dirty="0"/>
              <a:t>BATCH : PGA 41</a:t>
            </a:r>
          </a:p>
        </p:txBody>
      </p:sp>
    </p:spTree>
    <p:extLst>
      <p:ext uri="{BB962C8B-B14F-4D97-AF65-F5344CB8AC3E}">
        <p14:creationId xmlns:p14="http://schemas.microsoft.com/office/powerpoint/2010/main" val="2808920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621804" y="764704"/>
            <a:ext cx="7848873" cy="792088"/>
          </a:xfrm>
        </p:spPr>
        <p:txBody>
          <a:bodyPr/>
          <a:lstStyle/>
          <a:p>
            <a:r>
              <a:rPr lang="en-US" b="1" dirty="0"/>
              <a:t>Problem Statement </a:t>
            </a:r>
          </a:p>
        </p:txBody>
      </p:sp>
      <p:sp>
        <p:nvSpPr>
          <p:cNvPr id="9" name="Content Placeholder 8">
            <a:extLst>
              <a:ext uri="{FF2B5EF4-FFF2-40B4-BE49-F238E27FC236}">
                <a16:creationId xmlns:a16="http://schemas.microsoft.com/office/drawing/2014/main" id="{9501D5DB-3C22-4253-A85F-E48542A99AD8}"/>
              </a:ext>
            </a:extLst>
          </p:cNvPr>
          <p:cNvSpPr>
            <a:spLocks noGrp="1"/>
          </p:cNvSpPr>
          <p:nvPr>
            <p:ph idx="1"/>
          </p:nvPr>
        </p:nvSpPr>
        <p:spPr>
          <a:xfrm>
            <a:off x="621805" y="1700808"/>
            <a:ext cx="6984775" cy="4752528"/>
          </a:xfrm>
        </p:spPr>
        <p:txBody>
          <a:bodyPr>
            <a:normAutofit/>
          </a:bodyPr>
          <a:lstStyle/>
          <a:p>
            <a:r>
              <a:rPr lang="en-GB" sz="2000" dirty="0">
                <a:latin typeface="Times New Roman" panose="02020603050405020304" pitchFamily="18" charset="0"/>
                <a:cs typeface="Times New Roman" panose="02020603050405020304" pitchFamily="18" charset="0"/>
              </a:rPr>
              <a:t>A large number of complaints are received daily by the organizations and authorities.</a:t>
            </a:r>
          </a:p>
          <a:p>
            <a:r>
              <a:rPr lang="en-GB" sz="2000" dirty="0">
                <a:latin typeface="Times New Roman" panose="02020603050405020304" pitchFamily="18" charset="0"/>
                <a:cs typeface="Times New Roman" panose="02020603050405020304" pitchFamily="18" charset="0"/>
              </a:rPr>
              <a:t>Manual review and sorting of complaints is time-consuming.</a:t>
            </a:r>
          </a:p>
          <a:p>
            <a:r>
              <a:rPr lang="en-GB" sz="2000" dirty="0">
                <a:latin typeface="Times New Roman" panose="02020603050405020304" pitchFamily="18" charset="0"/>
                <a:cs typeface="Times New Roman" panose="02020603050405020304" pitchFamily="18" charset="0"/>
              </a:rPr>
              <a:t>Identifying the correct complaint category manually can lead to errors.</a:t>
            </a:r>
          </a:p>
          <a:p>
            <a:r>
              <a:rPr lang="en-GB" sz="2000" dirty="0">
                <a:latin typeface="Times New Roman" panose="02020603050405020304" pitchFamily="18" charset="0"/>
                <a:cs typeface="Times New Roman" panose="02020603050405020304" pitchFamily="18" charset="0"/>
              </a:rPr>
              <a:t>Urgent complaints may be delayed due to lack of priority detection.</a:t>
            </a:r>
          </a:p>
          <a:p>
            <a:r>
              <a:rPr lang="en-GB" sz="2000" dirty="0">
                <a:latin typeface="Times New Roman" panose="02020603050405020304" pitchFamily="18" charset="0"/>
                <a:cs typeface="Times New Roman" panose="02020603050405020304" pitchFamily="18" charset="0"/>
              </a:rPr>
              <a:t>An automated NLP – based system is needed for faster and accurate complaint handling.</a:t>
            </a:r>
          </a:p>
          <a:p>
            <a:pPr marL="0" indent="0">
              <a:buNone/>
            </a:pPr>
            <a:r>
              <a:rPr lang="en-GB" sz="2000" dirty="0">
                <a:latin typeface="Times New Roman" panose="02020603050405020304" pitchFamily="18" charset="0"/>
                <a:cs typeface="Times New Roman" panose="02020603050405020304" pitchFamily="18" charset="0"/>
              </a:rPr>
              <a:t>GOAL : Build an intelligent complaint management system for accurate classification and timely action.</a:t>
            </a:r>
          </a:p>
        </p:txBody>
      </p:sp>
      <p:pic>
        <p:nvPicPr>
          <p:cNvPr id="12" name="Picture 11">
            <a:extLst>
              <a:ext uri="{FF2B5EF4-FFF2-40B4-BE49-F238E27FC236}">
                <a16:creationId xmlns:a16="http://schemas.microsoft.com/office/drawing/2014/main" id="{B312AF3D-A91B-4D47-8A25-2C2867E2EC5F}"/>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678588" y="1124744"/>
            <a:ext cx="4320480" cy="4752528"/>
          </a:xfrm>
          <a:prstGeom prst="rect">
            <a:avLst/>
          </a:prstGeom>
        </p:spPr>
      </p:pic>
      <p:sp>
        <p:nvSpPr>
          <p:cNvPr id="15" name="TextBox 14">
            <a:extLst>
              <a:ext uri="{FF2B5EF4-FFF2-40B4-BE49-F238E27FC236}">
                <a16:creationId xmlns:a16="http://schemas.microsoft.com/office/drawing/2014/main" id="{B9965ABF-4E22-4260-AE48-758D139CD517}"/>
              </a:ext>
            </a:extLst>
          </p:cNvPr>
          <p:cNvSpPr txBox="1"/>
          <p:nvPr/>
        </p:nvSpPr>
        <p:spPr>
          <a:xfrm>
            <a:off x="963739" y="6858000"/>
            <a:ext cx="8010993" cy="230832"/>
          </a:xfrm>
          <a:prstGeom prst="rect">
            <a:avLst/>
          </a:prstGeom>
          <a:noFill/>
        </p:spPr>
        <p:txBody>
          <a:bodyPr wrap="square" rtlCol="0">
            <a:spAutoFit/>
          </a:bodyPr>
          <a:lstStyle/>
          <a:p>
            <a:r>
              <a:rPr lang="en-GB" sz="900">
                <a:hlinkClick r:id="rId3" tooltip="https://www.thebluediamondgallery.com/typewriter/c/complaint.html"/>
              </a:rPr>
              <a:t>This Photo</a:t>
            </a:r>
            <a:r>
              <a:rPr lang="en-GB" sz="900"/>
              <a:t> by Unknown Author is licensed under </a:t>
            </a:r>
            <a:r>
              <a:rPr lang="en-GB" sz="900">
                <a:hlinkClick r:id="rId4" tooltip="https://creativecommons.org/licenses/by-sa/3.0/"/>
              </a:rPr>
              <a:t>CC BY-SA</a:t>
            </a:r>
            <a:endParaRPr lang="en-GB" sz="900"/>
          </a:p>
        </p:txBody>
      </p:sp>
    </p:spTree>
    <p:extLst>
      <p:ext uri="{BB962C8B-B14F-4D97-AF65-F5344CB8AC3E}">
        <p14:creationId xmlns:p14="http://schemas.microsoft.com/office/powerpoint/2010/main" val="213913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125860" y="404664"/>
            <a:ext cx="3419871" cy="864096"/>
          </a:xfrm>
        </p:spPr>
        <p:txBody>
          <a:bodyPr/>
          <a:lstStyle/>
          <a:p>
            <a:r>
              <a:rPr lang="en-US" b="1" dirty="0"/>
              <a:t>Objectives </a:t>
            </a:r>
          </a:p>
        </p:txBody>
      </p:sp>
      <p:sp>
        <p:nvSpPr>
          <p:cNvPr id="4" name="Content Placeholder 3">
            <a:extLst>
              <a:ext uri="{FF2B5EF4-FFF2-40B4-BE49-F238E27FC236}">
                <a16:creationId xmlns:a16="http://schemas.microsoft.com/office/drawing/2014/main" id="{BD492FFF-F647-4CC7-ACF0-50949A88C283}"/>
              </a:ext>
            </a:extLst>
          </p:cNvPr>
          <p:cNvSpPr>
            <a:spLocks noGrp="1"/>
          </p:cNvSpPr>
          <p:nvPr>
            <p:ph idx="1"/>
          </p:nvPr>
        </p:nvSpPr>
        <p:spPr>
          <a:xfrm>
            <a:off x="1125861" y="1556791"/>
            <a:ext cx="6984775" cy="5112569"/>
          </a:xfrm>
        </p:spPr>
        <p:txBody>
          <a:bodyPr/>
          <a:lstStyle/>
          <a:p>
            <a:r>
              <a:rPr lang="en-GB" dirty="0">
                <a:latin typeface="Times New Roman" panose="02020603050405020304" pitchFamily="18" charset="0"/>
                <a:cs typeface="Times New Roman" panose="02020603050405020304" pitchFamily="18" charset="0"/>
              </a:rPr>
              <a:t>Automate complaint classification using NLP. </a:t>
            </a:r>
          </a:p>
          <a:p>
            <a:r>
              <a:rPr lang="en-GB" dirty="0">
                <a:latin typeface="Times New Roman" panose="02020603050405020304" pitchFamily="18" charset="0"/>
                <a:cs typeface="Times New Roman" panose="02020603050405020304" pitchFamily="18" charset="0"/>
              </a:rPr>
              <a:t>Perform Exploratory Data Analysis (EDA)</a:t>
            </a:r>
          </a:p>
          <a:p>
            <a:r>
              <a:rPr lang="en-GB" dirty="0">
                <a:latin typeface="Times New Roman" panose="02020603050405020304" pitchFamily="18" charset="0"/>
                <a:cs typeface="Times New Roman" panose="02020603050405020304" pitchFamily="18" charset="0"/>
              </a:rPr>
              <a:t>Predict complaint categories accurately. </a:t>
            </a:r>
          </a:p>
          <a:p>
            <a:r>
              <a:rPr lang="en-GB" dirty="0">
                <a:latin typeface="Times New Roman" panose="02020603050405020304" pitchFamily="18" charset="0"/>
                <a:cs typeface="Times New Roman" panose="02020603050405020304" pitchFamily="18" charset="0"/>
              </a:rPr>
              <a:t>Identify urgent complaints by priority level. </a:t>
            </a:r>
          </a:p>
          <a:p>
            <a:r>
              <a:rPr lang="en-GB" dirty="0">
                <a:latin typeface="Times New Roman" panose="02020603050405020304" pitchFamily="18" charset="0"/>
                <a:cs typeface="Times New Roman" panose="02020603050405020304" pitchFamily="18" charset="0"/>
              </a:rPr>
              <a:t>Evaluate multiple ML models. </a:t>
            </a:r>
          </a:p>
          <a:p>
            <a:r>
              <a:rPr lang="en-GB" dirty="0">
                <a:latin typeface="Times New Roman" panose="02020603050405020304" pitchFamily="18" charset="0"/>
                <a:cs typeface="Times New Roman" panose="02020603050405020304" pitchFamily="18" charset="0"/>
              </a:rPr>
              <a:t>Tune the model</a:t>
            </a:r>
          </a:p>
          <a:p>
            <a:r>
              <a:rPr lang="en-GB" dirty="0">
                <a:latin typeface="Times New Roman" panose="02020603050405020304" pitchFamily="18" charset="0"/>
                <a:cs typeface="Times New Roman" panose="02020603050405020304" pitchFamily="18" charset="0"/>
              </a:rPr>
              <a:t>Improve processing speed and efficiency. </a:t>
            </a:r>
          </a:p>
          <a:p>
            <a:r>
              <a:rPr lang="en-GB" dirty="0">
                <a:latin typeface="Times New Roman" panose="02020603050405020304" pitchFamily="18" charset="0"/>
                <a:cs typeface="Times New Roman" panose="02020603050405020304" pitchFamily="18" charset="0"/>
              </a:rPr>
              <a:t>Deploy a user-friendly web application. </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endParaRPr lang="en-GB" dirty="0"/>
          </a:p>
        </p:txBody>
      </p:sp>
    </p:spTree>
    <p:extLst>
      <p:ext uri="{BB962C8B-B14F-4D97-AF65-F5344CB8AC3E}">
        <p14:creationId xmlns:p14="http://schemas.microsoft.com/office/powerpoint/2010/main" val="310620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860" y="548681"/>
            <a:ext cx="9172091" cy="792088"/>
          </a:xfrm>
        </p:spPr>
        <p:txBody>
          <a:bodyPr>
            <a:normAutofit/>
          </a:bodyPr>
          <a:lstStyle/>
          <a:p>
            <a:r>
              <a:rPr lang="en-US" b="1" dirty="0"/>
              <a:t>Dataset Information</a:t>
            </a:r>
          </a:p>
        </p:txBody>
      </p:sp>
      <p:sp>
        <p:nvSpPr>
          <p:cNvPr id="8" name="Rectangle 1">
            <a:extLst>
              <a:ext uri="{FF2B5EF4-FFF2-40B4-BE49-F238E27FC236}">
                <a16:creationId xmlns:a16="http://schemas.microsoft.com/office/drawing/2014/main" id="{EC4BF1E5-CBBB-4C32-878C-6BBB8188C69E}"/>
              </a:ext>
            </a:extLst>
          </p:cNvPr>
          <p:cNvSpPr>
            <a:spLocks noGrp="1" noChangeArrowheads="1"/>
          </p:cNvSpPr>
          <p:nvPr>
            <p:ph sz="half" idx="1"/>
          </p:nvPr>
        </p:nvSpPr>
        <p:spPr bwMode="auto">
          <a:xfrm>
            <a:off x="1125538" y="1562728"/>
            <a:ext cx="6409034" cy="4007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 Source: Kaggle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File Name: complaints_processed.csv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Total Records: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162,421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complaint entries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Total Columns: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Input Feature: Complaint Narrative Text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Target Variable: Product / Complaint Category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 contains multiple complaint categories for  classification. </a:t>
            </a:r>
          </a:p>
        </p:txBody>
      </p:sp>
      <p:pic>
        <p:nvPicPr>
          <p:cNvPr id="14" name="Picture 13">
            <a:extLst>
              <a:ext uri="{FF2B5EF4-FFF2-40B4-BE49-F238E27FC236}">
                <a16:creationId xmlns:a16="http://schemas.microsoft.com/office/drawing/2014/main" id="{340F09C8-F2A3-4771-9CA0-E1947DCCDFE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742484" y="2348880"/>
            <a:ext cx="4824537" cy="1765027"/>
          </a:xfrm>
          <a:prstGeom prst="rect">
            <a:avLst/>
          </a:prstGeom>
        </p:spPr>
      </p:pic>
    </p:spTree>
    <p:extLst>
      <p:ext uri="{BB962C8B-B14F-4D97-AF65-F5344CB8AC3E}">
        <p14:creationId xmlns:p14="http://schemas.microsoft.com/office/powerpoint/2010/main" val="4206988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333773" y="116632"/>
            <a:ext cx="6984776" cy="648072"/>
          </a:xfrm>
        </p:spPr>
        <p:txBody>
          <a:bodyPr/>
          <a:lstStyle/>
          <a:p>
            <a:r>
              <a:rPr lang="en-GB" b="1" dirty="0"/>
              <a:t>Exploratory Data Analysis (EDA)</a:t>
            </a:r>
            <a:endParaRPr lang="en-US" b="1" dirty="0"/>
          </a:p>
        </p:txBody>
      </p:sp>
      <p:pic>
        <p:nvPicPr>
          <p:cNvPr id="7" name="Picture 6">
            <a:extLst>
              <a:ext uri="{FF2B5EF4-FFF2-40B4-BE49-F238E27FC236}">
                <a16:creationId xmlns:a16="http://schemas.microsoft.com/office/drawing/2014/main" id="{0CC3006B-55A6-4075-9458-81D26688B97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083" r="2083"/>
          <a:stretch/>
        </p:blipFill>
        <p:spPr>
          <a:xfrm>
            <a:off x="401015" y="692696"/>
            <a:ext cx="5122097" cy="2016224"/>
          </a:xfrm>
          <a:prstGeom prst="rect">
            <a:avLst/>
          </a:prstGeom>
        </p:spPr>
      </p:pic>
      <p:pic>
        <p:nvPicPr>
          <p:cNvPr id="9" name="Picture 8">
            <a:extLst>
              <a:ext uri="{FF2B5EF4-FFF2-40B4-BE49-F238E27FC236}">
                <a16:creationId xmlns:a16="http://schemas.microsoft.com/office/drawing/2014/main" id="{3E8AF509-9916-4F50-A612-568570CDD455}"/>
              </a:ext>
            </a:extLst>
          </p:cNvPr>
          <p:cNvPicPr>
            <a:picLocks noChangeAspect="1"/>
          </p:cNvPicPr>
          <p:nvPr/>
        </p:nvPicPr>
        <p:blipFill rotWithShape="1">
          <a:blip r:embed="rId3">
            <a:extLst>
              <a:ext uri="{28A0092B-C50C-407E-A947-70E740481C1C}">
                <a14:useLocalDpi xmlns:a14="http://schemas.microsoft.com/office/drawing/2010/main" val="0"/>
              </a:ext>
            </a:extLst>
          </a:blip>
          <a:srcRect l="795" t="1917" r="14373" b="25959"/>
          <a:stretch/>
        </p:blipFill>
        <p:spPr>
          <a:xfrm>
            <a:off x="405780" y="2708920"/>
            <a:ext cx="5112567" cy="2016224"/>
          </a:xfrm>
          <a:prstGeom prst="rect">
            <a:avLst/>
          </a:prstGeom>
        </p:spPr>
      </p:pic>
      <p:pic>
        <p:nvPicPr>
          <p:cNvPr id="11" name="Picture 10">
            <a:extLst>
              <a:ext uri="{FF2B5EF4-FFF2-40B4-BE49-F238E27FC236}">
                <a16:creationId xmlns:a16="http://schemas.microsoft.com/office/drawing/2014/main" id="{8BE6BEF0-E7D2-46EE-9D0F-D3744F8089E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004" t="911" r="4653" b="5338"/>
          <a:stretch/>
        </p:blipFill>
        <p:spPr>
          <a:xfrm>
            <a:off x="401015" y="4725144"/>
            <a:ext cx="5112567" cy="2016224"/>
          </a:xfrm>
          <a:prstGeom prst="rect">
            <a:avLst/>
          </a:prstGeom>
        </p:spPr>
      </p:pic>
      <p:sp>
        <p:nvSpPr>
          <p:cNvPr id="17" name="TextBox 16">
            <a:extLst>
              <a:ext uri="{FF2B5EF4-FFF2-40B4-BE49-F238E27FC236}">
                <a16:creationId xmlns:a16="http://schemas.microsoft.com/office/drawing/2014/main" id="{8C06E4DD-D3EF-434F-94BE-BE1B3D2DB298}"/>
              </a:ext>
            </a:extLst>
          </p:cNvPr>
          <p:cNvSpPr txBox="1"/>
          <p:nvPr/>
        </p:nvSpPr>
        <p:spPr>
          <a:xfrm>
            <a:off x="5662364" y="764704"/>
            <a:ext cx="6408712" cy="10341293"/>
          </a:xfrm>
          <a:prstGeom prst="rect">
            <a:avLst/>
          </a:prstGeom>
          <a:noFill/>
        </p:spPr>
        <p:txBody>
          <a:bodyPr wrap="square" rtlCol="0">
            <a:spAutoFit/>
          </a:bodyPr>
          <a:lstStyle/>
          <a:p>
            <a:r>
              <a:rPr lang="en-GB" dirty="0"/>
              <a:t>Insights:    </a:t>
            </a:r>
          </a:p>
          <a:p>
            <a:r>
              <a:rPr lang="en-GB" dirty="0">
                <a:latin typeface="Times New Roman" panose="02020603050405020304" pitchFamily="18" charset="0"/>
                <a:cs typeface="Times New Roman" panose="02020603050405020304" pitchFamily="18" charset="0"/>
              </a:rPr>
              <a:t>1. The category 'credit reporting' has the highest number of complaints in the dataset, indicating that many users face issues related to credit reports, credit scores, or incorrect financial reporting records.</a:t>
            </a:r>
          </a:p>
          <a:p>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2. First, we created a column "text length" in which we have calculated the text length of each row.</a:t>
            </a:r>
          </a:p>
          <a:p>
            <a:r>
              <a:rPr lang="en-GB" dirty="0">
                <a:latin typeface="Times New Roman" panose="02020603050405020304" pitchFamily="18" charset="0"/>
                <a:cs typeface="Times New Roman" panose="02020603050405020304" pitchFamily="18" charset="0"/>
              </a:rPr>
              <a:t>Most complaint narratives in the dataset are short to medium in length, indicating that users usually describe their issues concisely.</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A small number of complaints are very lengthy, showing that some users provide highly detailed explanations of their problems.</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The text length distribution is positively skewed, where most complaints are short and only a few are exceptionally long.</a:t>
            </a:r>
          </a:p>
          <a:p>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3. Large words like credit card, credit report, credit score, fair credit, scores indicates that many complaints are about the credit cards itself.</a:t>
            </a:r>
          </a:p>
          <a:p>
            <a:endParaRPr lang="en-GB" dirty="0">
              <a:latin typeface="Times New Roman" panose="02020603050405020304" pitchFamily="18" charset="0"/>
              <a:cs typeface="Times New Roman" panose="02020603050405020304" pitchFamily="18" charset="0"/>
            </a:endParaRP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r>
              <a:rPr lang="en-GB" dirty="0"/>
              <a:t>  </a:t>
            </a:r>
          </a:p>
        </p:txBody>
      </p:sp>
    </p:spTree>
    <p:extLst>
      <p:ext uri="{BB962C8B-B14F-4D97-AF65-F5344CB8AC3E}">
        <p14:creationId xmlns:p14="http://schemas.microsoft.com/office/powerpoint/2010/main" val="462238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797" y="692696"/>
            <a:ext cx="7488832" cy="792088"/>
          </a:xfrm>
        </p:spPr>
        <p:txBody>
          <a:bodyPr>
            <a:normAutofit/>
          </a:bodyPr>
          <a:lstStyle/>
          <a:p>
            <a:r>
              <a:rPr lang="en-US" b="1" dirty="0"/>
              <a:t>Models Built &amp; Evaluated </a:t>
            </a:r>
          </a:p>
        </p:txBody>
      </p:sp>
      <p:graphicFrame>
        <p:nvGraphicFramePr>
          <p:cNvPr id="4" name="Table 3">
            <a:extLst>
              <a:ext uri="{FF2B5EF4-FFF2-40B4-BE49-F238E27FC236}">
                <a16:creationId xmlns:a16="http://schemas.microsoft.com/office/drawing/2014/main" id="{1121E86C-17E2-4022-B3D8-5CA569906652}"/>
              </a:ext>
            </a:extLst>
          </p:cNvPr>
          <p:cNvGraphicFramePr>
            <a:graphicFrameLocks noGrp="1"/>
          </p:cNvGraphicFramePr>
          <p:nvPr>
            <p:extLst>
              <p:ext uri="{D42A27DB-BD31-4B8C-83A1-F6EECF244321}">
                <p14:modId xmlns:p14="http://schemas.microsoft.com/office/powerpoint/2010/main" val="1265654623"/>
              </p:ext>
            </p:extLst>
          </p:nvPr>
        </p:nvGraphicFramePr>
        <p:xfrm>
          <a:off x="549797" y="1916832"/>
          <a:ext cx="7488832" cy="2088232"/>
        </p:xfrm>
        <a:graphic>
          <a:graphicData uri="http://schemas.openxmlformats.org/drawingml/2006/table">
            <a:tbl>
              <a:tblPr firstRow="1" bandRow="1">
                <a:tableStyleId>{5C22544A-7EE6-4342-B048-85BDC9FD1C3A}</a:tableStyleId>
              </a:tblPr>
              <a:tblGrid>
                <a:gridCol w="3744416">
                  <a:extLst>
                    <a:ext uri="{9D8B030D-6E8A-4147-A177-3AD203B41FA5}">
                      <a16:colId xmlns:a16="http://schemas.microsoft.com/office/drawing/2014/main" val="3748040739"/>
                    </a:ext>
                  </a:extLst>
                </a:gridCol>
                <a:gridCol w="3744416">
                  <a:extLst>
                    <a:ext uri="{9D8B030D-6E8A-4147-A177-3AD203B41FA5}">
                      <a16:colId xmlns:a16="http://schemas.microsoft.com/office/drawing/2014/main" val="1334004259"/>
                    </a:ext>
                  </a:extLst>
                </a:gridCol>
              </a:tblGrid>
              <a:tr h="522058">
                <a:tc>
                  <a:txBody>
                    <a:bodyPr/>
                    <a:lstStyle/>
                    <a:p>
                      <a:r>
                        <a:rPr lang="en-GB" dirty="0"/>
                        <a:t>Models Build </a:t>
                      </a:r>
                    </a:p>
                  </a:txBody>
                  <a:tcPr/>
                </a:tc>
                <a:tc>
                  <a:txBody>
                    <a:bodyPr/>
                    <a:lstStyle/>
                    <a:p>
                      <a:r>
                        <a:rPr lang="en-GB" dirty="0"/>
                        <a:t>Accuracy</a:t>
                      </a:r>
                    </a:p>
                  </a:txBody>
                  <a:tcPr/>
                </a:tc>
                <a:extLst>
                  <a:ext uri="{0D108BD9-81ED-4DB2-BD59-A6C34878D82A}">
                    <a16:rowId xmlns:a16="http://schemas.microsoft.com/office/drawing/2014/main" val="3081136947"/>
                  </a:ext>
                </a:extLst>
              </a:tr>
              <a:tr h="522058">
                <a:tc>
                  <a:txBody>
                    <a:bodyPr/>
                    <a:lstStyle/>
                    <a:p>
                      <a:r>
                        <a:rPr lang="en-GB" dirty="0"/>
                        <a:t>Logistic Regression</a:t>
                      </a:r>
                    </a:p>
                  </a:txBody>
                  <a:tcPr/>
                </a:tc>
                <a:tc>
                  <a:txBody>
                    <a:bodyPr/>
                    <a:lstStyle/>
                    <a:p>
                      <a:r>
                        <a:rPr lang="en-GB" dirty="0"/>
                        <a:t>0.85</a:t>
                      </a:r>
                    </a:p>
                  </a:txBody>
                  <a:tcPr/>
                </a:tc>
                <a:extLst>
                  <a:ext uri="{0D108BD9-81ED-4DB2-BD59-A6C34878D82A}">
                    <a16:rowId xmlns:a16="http://schemas.microsoft.com/office/drawing/2014/main" val="907864372"/>
                  </a:ext>
                </a:extLst>
              </a:tr>
              <a:tr h="522058">
                <a:tc>
                  <a:txBody>
                    <a:bodyPr/>
                    <a:lstStyle/>
                    <a:p>
                      <a:r>
                        <a:rPr lang="en-GB" dirty="0"/>
                        <a:t>Naive Bayes </a:t>
                      </a:r>
                    </a:p>
                  </a:txBody>
                  <a:tcPr/>
                </a:tc>
                <a:tc>
                  <a:txBody>
                    <a:bodyPr/>
                    <a:lstStyle/>
                    <a:p>
                      <a:r>
                        <a:rPr lang="en-GB" dirty="0"/>
                        <a:t>0.81</a:t>
                      </a:r>
                    </a:p>
                  </a:txBody>
                  <a:tcPr/>
                </a:tc>
                <a:extLst>
                  <a:ext uri="{0D108BD9-81ED-4DB2-BD59-A6C34878D82A}">
                    <a16:rowId xmlns:a16="http://schemas.microsoft.com/office/drawing/2014/main" val="4146534389"/>
                  </a:ext>
                </a:extLst>
              </a:tr>
              <a:tr h="522058">
                <a:tc>
                  <a:txBody>
                    <a:bodyPr/>
                    <a:lstStyle/>
                    <a:p>
                      <a:r>
                        <a:rPr lang="en-GB" dirty="0"/>
                        <a:t>Decision Tree</a:t>
                      </a:r>
                    </a:p>
                  </a:txBody>
                  <a:tcPr/>
                </a:tc>
                <a:tc>
                  <a:txBody>
                    <a:bodyPr/>
                    <a:lstStyle/>
                    <a:p>
                      <a:r>
                        <a:rPr lang="en-GB" dirty="0"/>
                        <a:t>0.77</a:t>
                      </a:r>
                    </a:p>
                  </a:txBody>
                  <a:tcPr/>
                </a:tc>
                <a:extLst>
                  <a:ext uri="{0D108BD9-81ED-4DB2-BD59-A6C34878D82A}">
                    <a16:rowId xmlns:a16="http://schemas.microsoft.com/office/drawing/2014/main" val="3879187432"/>
                  </a:ext>
                </a:extLst>
              </a:tr>
            </a:tbl>
          </a:graphicData>
        </a:graphic>
      </p:graphicFrame>
      <p:sp>
        <p:nvSpPr>
          <p:cNvPr id="5" name="TextBox 4">
            <a:extLst>
              <a:ext uri="{FF2B5EF4-FFF2-40B4-BE49-F238E27FC236}">
                <a16:creationId xmlns:a16="http://schemas.microsoft.com/office/drawing/2014/main" id="{51FDF969-CE49-4B73-BF8C-1917755B6DDF}"/>
              </a:ext>
            </a:extLst>
          </p:cNvPr>
          <p:cNvSpPr txBox="1"/>
          <p:nvPr/>
        </p:nvSpPr>
        <p:spPr>
          <a:xfrm>
            <a:off x="549797" y="4509120"/>
            <a:ext cx="8640959" cy="830997"/>
          </a:xfrm>
          <a:prstGeom prst="rect">
            <a:avLst/>
          </a:prstGeom>
          <a:noFill/>
        </p:spPr>
        <p:txBody>
          <a:bodyPr wrap="square" rtlCol="0">
            <a:spAutoFit/>
          </a:bodyPr>
          <a:lstStyle/>
          <a:p>
            <a:r>
              <a:rPr lang="en-GB" sz="2400" dirty="0">
                <a:latin typeface="Times New Roman" panose="02020603050405020304" pitchFamily="18" charset="0"/>
                <a:cs typeface="Times New Roman" panose="02020603050405020304" pitchFamily="18" charset="0"/>
              </a:rPr>
              <a:t>Among all evaluated models, Logistic Regression delivered the best performance with highest prediction accuracy.</a:t>
            </a:r>
          </a:p>
        </p:txBody>
      </p:sp>
    </p:spTree>
    <p:extLst>
      <p:ext uri="{BB962C8B-B14F-4D97-AF65-F5344CB8AC3E}">
        <p14:creationId xmlns:p14="http://schemas.microsoft.com/office/powerpoint/2010/main" val="247816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813" y="381000"/>
            <a:ext cx="9972602" cy="762001"/>
          </a:xfrm>
        </p:spPr>
        <p:txBody>
          <a:bodyPr/>
          <a:lstStyle/>
          <a:p>
            <a:r>
              <a:rPr lang="en-US" b="1" dirty="0"/>
              <a:t>Model Optimization using Grid Search CV</a:t>
            </a:r>
          </a:p>
        </p:txBody>
      </p:sp>
      <p:sp>
        <p:nvSpPr>
          <p:cNvPr id="10" name="Rectangle 2">
            <a:extLst>
              <a:ext uri="{FF2B5EF4-FFF2-40B4-BE49-F238E27FC236}">
                <a16:creationId xmlns:a16="http://schemas.microsoft.com/office/drawing/2014/main" id="{B45B666F-FAAC-46E7-8BCF-9E6777594538}"/>
              </a:ext>
            </a:extLst>
          </p:cNvPr>
          <p:cNvSpPr>
            <a:spLocks noGrp="1" noChangeArrowheads="1"/>
          </p:cNvSpPr>
          <p:nvPr>
            <p:ph sz="half" idx="2"/>
          </p:nvPr>
        </p:nvSpPr>
        <p:spPr bwMode="auto">
          <a:xfrm>
            <a:off x="621804" y="923528"/>
            <a:ext cx="9001000"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Hyperparameter tuning was applied to improve Logistic Regression performance.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GridSearchCV</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was used to test multiple parameter combinations.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Parameters such as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solver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max_iter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optimized.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Best model was selected using cross-validation score. </a:t>
            </a:r>
          </a:p>
        </p:txBody>
      </p:sp>
      <p:graphicFrame>
        <p:nvGraphicFramePr>
          <p:cNvPr id="11" name="Table 10">
            <a:extLst>
              <a:ext uri="{FF2B5EF4-FFF2-40B4-BE49-F238E27FC236}">
                <a16:creationId xmlns:a16="http://schemas.microsoft.com/office/drawing/2014/main" id="{3A066EFF-EE51-4418-9FED-50BC6E4B61D9}"/>
              </a:ext>
            </a:extLst>
          </p:cNvPr>
          <p:cNvGraphicFramePr>
            <a:graphicFrameLocks noGrp="1"/>
          </p:cNvGraphicFramePr>
          <p:nvPr>
            <p:extLst>
              <p:ext uri="{D42A27DB-BD31-4B8C-83A1-F6EECF244321}">
                <p14:modId xmlns:p14="http://schemas.microsoft.com/office/powerpoint/2010/main" val="3357851689"/>
              </p:ext>
            </p:extLst>
          </p:nvPr>
        </p:nvGraphicFramePr>
        <p:xfrm>
          <a:off x="621804" y="3429001"/>
          <a:ext cx="6624736" cy="1944216"/>
        </p:xfrm>
        <a:graphic>
          <a:graphicData uri="http://schemas.openxmlformats.org/drawingml/2006/table">
            <a:tbl>
              <a:tblPr firstRow="1" bandRow="1">
                <a:tableStyleId>{5C22544A-7EE6-4342-B048-85BDC9FD1C3A}</a:tableStyleId>
              </a:tblPr>
              <a:tblGrid>
                <a:gridCol w="3312368">
                  <a:extLst>
                    <a:ext uri="{9D8B030D-6E8A-4147-A177-3AD203B41FA5}">
                      <a16:colId xmlns:a16="http://schemas.microsoft.com/office/drawing/2014/main" val="3537703743"/>
                    </a:ext>
                  </a:extLst>
                </a:gridCol>
                <a:gridCol w="3312368">
                  <a:extLst>
                    <a:ext uri="{9D8B030D-6E8A-4147-A177-3AD203B41FA5}">
                      <a16:colId xmlns:a16="http://schemas.microsoft.com/office/drawing/2014/main" val="3074754640"/>
                    </a:ext>
                  </a:extLst>
                </a:gridCol>
              </a:tblGrid>
              <a:tr h="486054">
                <a:tc>
                  <a:txBody>
                    <a:bodyPr/>
                    <a:lstStyle/>
                    <a:p>
                      <a:r>
                        <a:rPr lang="en-GB" dirty="0"/>
                        <a:t>Parameter</a:t>
                      </a:r>
                    </a:p>
                  </a:txBody>
                  <a:tcPr/>
                </a:tc>
                <a:tc>
                  <a:txBody>
                    <a:bodyPr/>
                    <a:lstStyle/>
                    <a:p>
                      <a:r>
                        <a:rPr lang="en-GB" dirty="0"/>
                        <a:t>Best Value</a:t>
                      </a:r>
                    </a:p>
                  </a:txBody>
                  <a:tcPr/>
                </a:tc>
                <a:extLst>
                  <a:ext uri="{0D108BD9-81ED-4DB2-BD59-A6C34878D82A}">
                    <a16:rowId xmlns:a16="http://schemas.microsoft.com/office/drawing/2014/main" val="143043471"/>
                  </a:ext>
                </a:extLst>
              </a:tr>
              <a:tr h="486054">
                <a:tc>
                  <a:txBody>
                    <a:bodyPr/>
                    <a:lstStyle/>
                    <a:p>
                      <a:r>
                        <a:rPr lang="en-GB" dirty="0"/>
                        <a:t>C</a:t>
                      </a:r>
                    </a:p>
                  </a:txBody>
                  <a:tcPr/>
                </a:tc>
                <a:tc>
                  <a:txBody>
                    <a:bodyPr/>
                    <a:lstStyle/>
                    <a:p>
                      <a:r>
                        <a:rPr lang="en-GB" dirty="0"/>
                        <a:t>1</a:t>
                      </a:r>
                    </a:p>
                  </a:txBody>
                  <a:tcPr/>
                </a:tc>
                <a:extLst>
                  <a:ext uri="{0D108BD9-81ED-4DB2-BD59-A6C34878D82A}">
                    <a16:rowId xmlns:a16="http://schemas.microsoft.com/office/drawing/2014/main" val="3046911335"/>
                  </a:ext>
                </a:extLst>
              </a:tr>
              <a:tr h="486054">
                <a:tc>
                  <a:txBody>
                    <a:bodyPr/>
                    <a:lstStyle/>
                    <a:p>
                      <a:r>
                        <a:rPr lang="en-GB" dirty="0"/>
                        <a:t>Solver</a:t>
                      </a:r>
                    </a:p>
                  </a:txBody>
                  <a:tcPr/>
                </a:tc>
                <a:tc>
                  <a:txBody>
                    <a:bodyPr/>
                    <a:lstStyle/>
                    <a:p>
                      <a:r>
                        <a:rPr lang="en-GB" dirty="0"/>
                        <a:t>Ibfgs</a:t>
                      </a:r>
                    </a:p>
                  </a:txBody>
                  <a:tcPr/>
                </a:tc>
                <a:extLst>
                  <a:ext uri="{0D108BD9-81ED-4DB2-BD59-A6C34878D82A}">
                    <a16:rowId xmlns:a16="http://schemas.microsoft.com/office/drawing/2014/main" val="583926682"/>
                  </a:ext>
                </a:extLst>
              </a:tr>
              <a:tr h="486054">
                <a:tc>
                  <a:txBody>
                    <a:bodyPr/>
                    <a:lstStyle/>
                    <a:p>
                      <a:r>
                        <a:rPr lang="en-GB" dirty="0"/>
                        <a:t>max_iter</a:t>
                      </a:r>
                    </a:p>
                  </a:txBody>
                  <a:tcPr/>
                </a:tc>
                <a:tc>
                  <a:txBody>
                    <a:bodyPr/>
                    <a:lstStyle/>
                    <a:p>
                      <a:r>
                        <a:rPr lang="en-GB" dirty="0"/>
                        <a:t>1000</a:t>
                      </a:r>
                    </a:p>
                  </a:txBody>
                  <a:tcPr/>
                </a:tc>
                <a:extLst>
                  <a:ext uri="{0D108BD9-81ED-4DB2-BD59-A6C34878D82A}">
                    <a16:rowId xmlns:a16="http://schemas.microsoft.com/office/drawing/2014/main" val="895600077"/>
                  </a:ext>
                </a:extLst>
              </a:tr>
            </a:tbl>
          </a:graphicData>
        </a:graphic>
      </p:graphicFrame>
    </p:spTree>
    <p:extLst>
      <p:ext uri="{BB962C8B-B14F-4D97-AF65-F5344CB8AC3E}">
        <p14:creationId xmlns:p14="http://schemas.microsoft.com/office/powerpoint/2010/main" val="268142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1805" y="404664"/>
            <a:ext cx="10044608" cy="795536"/>
          </a:xfrm>
        </p:spPr>
        <p:txBody>
          <a:bodyPr/>
          <a:lstStyle/>
          <a:p>
            <a:r>
              <a:rPr lang="en-GB" b="1" dirty="0"/>
              <a:t>Model Deployment using Streamlit</a:t>
            </a:r>
            <a:endParaRPr lang="en-US" b="1" dirty="0"/>
          </a:p>
        </p:txBody>
      </p:sp>
      <p:pic>
        <p:nvPicPr>
          <p:cNvPr id="8" name="Picture 7">
            <a:extLst>
              <a:ext uri="{FF2B5EF4-FFF2-40B4-BE49-F238E27FC236}">
                <a16:creationId xmlns:a16="http://schemas.microsoft.com/office/drawing/2014/main" id="{6B81812F-67B0-466E-A05C-4109F781FD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10436" y="1200200"/>
            <a:ext cx="5430275" cy="3812976"/>
          </a:xfrm>
          <a:prstGeom prst="rect">
            <a:avLst/>
          </a:prstGeom>
        </p:spPr>
      </p:pic>
      <p:sp>
        <p:nvSpPr>
          <p:cNvPr id="10" name="TextBox 9">
            <a:extLst>
              <a:ext uri="{FF2B5EF4-FFF2-40B4-BE49-F238E27FC236}">
                <a16:creationId xmlns:a16="http://schemas.microsoft.com/office/drawing/2014/main" id="{A03C382F-7DAE-4CFA-B149-7B73E00FAC51}"/>
              </a:ext>
            </a:extLst>
          </p:cNvPr>
          <p:cNvSpPr txBox="1"/>
          <p:nvPr/>
        </p:nvSpPr>
        <p:spPr>
          <a:xfrm>
            <a:off x="693812" y="1268760"/>
            <a:ext cx="5616624" cy="326865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Developed an interactive web application using Streamlit.</a:t>
            </a:r>
          </a:p>
          <a:p>
            <a:pPr marL="285750" indent="-28575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Users can enter complaint text in the input box.</a:t>
            </a:r>
          </a:p>
          <a:p>
            <a:pPr marL="285750" indent="-28575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System predicts complaint category instantly and displays the priority level (High/Medium/Low).</a:t>
            </a:r>
          </a:p>
          <a:p>
            <a:pPr marL="285750" indent="-28575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Shows sentiment analysis result.</a:t>
            </a:r>
          </a:p>
          <a:p>
            <a:pPr marL="285750" indent="-285750">
              <a:lnSpc>
                <a:spcPct val="15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User-friendly interface for real time usage.</a:t>
            </a:r>
          </a:p>
        </p:txBody>
      </p:sp>
    </p:spTree>
    <p:extLst>
      <p:ext uri="{BB962C8B-B14F-4D97-AF65-F5344CB8AC3E}">
        <p14:creationId xmlns:p14="http://schemas.microsoft.com/office/powerpoint/2010/main" val="2590506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72A494-9715-4AF8-96F1-DB31E156A992}"/>
              </a:ext>
            </a:extLst>
          </p:cNvPr>
          <p:cNvSpPr txBox="1"/>
          <p:nvPr/>
        </p:nvSpPr>
        <p:spPr>
          <a:xfrm>
            <a:off x="693812" y="476672"/>
            <a:ext cx="10081120" cy="1815882"/>
          </a:xfrm>
          <a:prstGeom prst="rect">
            <a:avLst/>
          </a:prstGeom>
          <a:noFill/>
        </p:spPr>
        <p:txBody>
          <a:bodyPr wrap="square" rtlCol="0">
            <a:spAutoFit/>
          </a:bodyPr>
          <a:lstStyle/>
          <a:p>
            <a:r>
              <a:rPr lang="en-GB" sz="4000" b="1" dirty="0">
                <a:latin typeface="+mj-lt"/>
              </a:rPr>
              <a:t>Conclusion</a:t>
            </a:r>
          </a:p>
          <a:p>
            <a:endParaRPr lang="en-GB" dirty="0"/>
          </a:p>
          <a:p>
            <a:endParaRPr lang="en-GB" dirty="0"/>
          </a:p>
          <a:p>
            <a:endParaRPr lang="en-GB" dirty="0"/>
          </a:p>
          <a:p>
            <a:endParaRPr lang="en-GB" dirty="0"/>
          </a:p>
        </p:txBody>
      </p:sp>
      <p:sp>
        <p:nvSpPr>
          <p:cNvPr id="3" name="TextBox 2">
            <a:extLst>
              <a:ext uri="{FF2B5EF4-FFF2-40B4-BE49-F238E27FC236}">
                <a16:creationId xmlns:a16="http://schemas.microsoft.com/office/drawing/2014/main" id="{FDA77ECD-83C3-4843-92C5-F2BF0951A211}"/>
              </a:ext>
            </a:extLst>
          </p:cNvPr>
          <p:cNvSpPr txBox="1"/>
          <p:nvPr/>
        </p:nvSpPr>
        <p:spPr>
          <a:xfrm>
            <a:off x="693812" y="1340768"/>
            <a:ext cx="10657184" cy="1631216"/>
          </a:xfrm>
          <a:prstGeom prst="rect">
            <a:avLst/>
          </a:prstGeom>
          <a:noFill/>
        </p:spPr>
        <p:txBody>
          <a:bodyPr wrap="square" rtlCol="0">
            <a:spAutoFit/>
          </a:bodyPr>
          <a:lstStyle/>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Successfully developed an NLP- based complaint classification model.</a:t>
            </a: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Compared multiple machine learning models.</a:t>
            </a: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Logistic Regression achieved the best performance.</a:t>
            </a: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Deployed the model using Streamlit for real time use.</a:t>
            </a:r>
          </a:p>
          <a:p>
            <a:pPr marL="285750" indent="-285750">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System helps automate complaint handling and priority detection.</a:t>
            </a:r>
          </a:p>
        </p:txBody>
      </p:sp>
    </p:spTree>
    <p:extLst>
      <p:ext uri="{BB962C8B-B14F-4D97-AF65-F5344CB8AC3E}">
        <p14:creationId xmlns:p14="http://schemas.microsoft.com/office/powerpoint/2010/main" val="1735722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581" y="332656"/>
            <a:ext cx="7055031" cy="864096"/>
          </a:xfrm>
        </p:spPr>
        <p:txBody>
          <a:bodyPr/>
          <a:lstStyle/>
          <a:p>
            <a:r>
              <a:rPr lang="en-US" sz="4000" b="1" dirty="0"/>
              <a:t>Future Scope:</a:t>
            </a:r>
          </a:p>
        </p:txBody>
      </p:sp>
      <p:sp>
        <p:nvSpPr>
          <p:cNvPr id="5" name="Rectangle 1">
            <a:extLst>
              <a:ext uri="{FF2B5EF4-FFF2-40B4-BE49-F238E27FC236}">
                <a16:creationId xmlns:a16="http://schemas.microsoft.com/office/drawing/2014/main" id="{8834D319-D48A-4C04-AB94-34533347A9C4}"/>
              </a:ext>
            </a:extLst>
          </p:cNvPr>
          <p:cNvSpPr>
            <a:spLocks noGrp="1" noChangeArrowheads="1"/>
          </p:cNvSpPr>
          <p:nvPr>
            <p:ph idx="1"/>
          </p:nvPr>
        </p:nvSpPr>
        <p:spPr bwMode="auto">
          <a:xfrm>
            <a:off x="839788" y="1268760"/>
            <a:ext cx="935907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GB" sz="2000" dirty="0">
                <a:latin typeface="Times New Roman" panose="02020603050405020304" pitchFamily="18" charset="0"/>
                <a:cs typeface="Times New Roman" panose="02020603050405020304" pitchFamily="18" charset="0"/>
              </a:rPr>
              <a:t>In the future, this project can be enhanced by using real-time complaint datasets for more accurate predictions. Multilingual support can be added to process complaints in languages such as Hindi and Marathi. Voice-to-text functionality can make complaint registration easier for users. Advanced deep learning models such as BERT and LSTM can be implemented to improve performance. The system can also be integrated with police or customer support dashboards for real-time monitoring and faster response.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5137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17948" y="1484784"/>
            <a:ext cx="8387470" cy="2873018"/>
          </a:xfrm>
        </p:spPr>
        <p:txBody>
          <a:bodyPr>
            <a:normAutofit/>
          </a:bodyPr>
          <a:lstStyle/>
          <a:p>
            <a:pPr algn="ctr"/>
            <a:r>
              <a:rPr lang="en-US" sz="7200" b="1" dirty="0"/>
              <a:t>Thank You!</a:t>
            </a:r>
            <a:br>
              <a:rPr lang="en-US" sz="7200" b="1" dirty="0"/>
            </a:br>
            <a:r>
              <a:rPr lang="en-US" sz="7200" b="1" dirty="0"/>
              <a:t>Any Questions?</a:t>
            </a:r>
          </a:p>
        </p:txBody>
      </p:sp>
    </p:spTree>
    <p:extLst>
      <p:ext uri="{BB962C8B-B14F-4D97-AF65-F5344CB8AC3E}">
        <p14:creationId xmlns:p14="http://schemas.microsoft.com/office/powerpoint/2010/main" val="1108506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2.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digital blue tunnel presentation (widescreen)</Template>
  <TotalTime>323</TotalTime>
  <Words>647</Words>
  <Application>Microsoft Office PowerPoint</Application>
  <PresentationFormat>Custom</PresentationFormat>
  <Paragraphs>98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Corbel</vt:lpstr>
      <vt:lpstr>Times New Roman</vt:lpstr>
      <vt:lpstr>Digital Blue Tunnel 16x9</vt:lpstr>
      <vt:lpstr>FIR/Complaint Classification and Priority Prediction System </vt:lpstr>
      <vt:lpstr>Problem Statement </vt:lpstr>
      <vt:lpstr>Objectives </vt:lpstr>
      <vt:lpstr>Dataset Information</vt:lpstr>
      <vt:lpstr>Exploratory Data Analysis (EDA)</vt:lpstr>
      <vt:lpstr>Models Built &amp; Evaluated </vt:lpstr>
      <vt:lpstr>Model Optimization using Grid Search CV</vt:lpstr>
      <vt:lpstr>Model Deployment using Streamlit</vt:lpstr>
      <vt:lpstr>PowerPoint Presentation</vt:lpstr>
      <vt:lpstr>Future Scope:</vt:lpstr>
      <vt:lpstr>Thank You! 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FIR/Complaint Classification and Priority Prediction System</dc:title>
  <dc:creator>Admin</dc:creator>
  <cp:lastModifiedBy>Admin</cp:lastModifiedBy>
  <cp:revision>19</cp:revision>
  <dcterms:created xsi:type="dcterms:W3CDTF">2026-04-22T14:58:12Z</dcterms:created>
  <dcterms:modified xsi:type="dcterms:W3CDTF">2026-04-22T20:21:19Z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